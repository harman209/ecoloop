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171A18"/>
                </a:solidFill>
                <a:latin typeface="Plus Jakarta Sans"/>
              </a:rPr>
              <a:t>Eco</a:t>
            </a:r>
            <a:r>
              <a:rPr sz="6400" b="1">
                <a:solidFill>
                  <a:srgbClr val="1F6B4F"/>
                </a:solidFill>
                <a:latin typeface="Plus Jakarta Sans"/>
              </a:rPr>
              <a:t>Loop</a:t>
            </a:r>
          </a:p>
          <a:p>
            <a:pPr>
              <a:spcBef>
                <a:spcPts val="1600"/>
              </a:spcBef>
              <a:defRPr sz="2200">
                <a:solidFill>
                  <a:srgbClr val="526058"/>
                </a:solidFill>
                <a:latin typeface="Plus Jakarta Sans"/>
              </a:defRPr>
            </a:pPr>
            <a:r>
              <a:t>Circular material systems and zero-cost digital architecture.</a:t>
            </a:r>
          </a:p>
          <a:p>
            <a:pPr>
              <a:spcBef>
                <a:spcPts val="3600"/>
              </a:spcBef>
              <a:defRPr sz="1600" b="1">
                <a:solidFill>
                  <a:srgbClr val="1F6B4F"/>
                </a:solidFill>
                <a:latin typeface="Plus Jakarta Sans"/>
              </a:defRPr>
            </a:pPr>
            <a:r>
              <a:t>Swami Sant Dass Public School, Jalandhar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The Packaging Trap: Multi-Layer Plastics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Why standard municipal recyclers throw clean packaging straight into landfills.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2626"/>
                </a:solidFill>
                <a:latin typeface="Plus Jakarta Sans"/>
              </a:defRPr>
            </a:pPr>
            <a:r>
              <a:t>The Material Reality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DC2626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Bonded Metal &amp; Plastic: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Chips and snack packets laminate aluminum foil between plastic film. Separating those layers is chemically difficult and commercially unprofitable.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DC2626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100% Landfill Destination: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Because municipal plants cannot process multi-layer packaging, almost all snack wrappers are burned or dumped into local landfills.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DC2626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Clean Waste in Schools: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Canteens and classrooms generate sacks of clean snack wrappers daily with zero realistic collection logistics.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6B4F"/>
                </a:solidFill>
                <a:latin typeface="Plus Jakarta Sans"/>
              </a:defRPr>
            </a:pPr>
            <a:r>
              <a:t>The EcoLoop Approach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Skip Separation, Heat-Compress: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Instead of separating the foil, we partner to heat-press whole wrappers into dense boards that replace plywood.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Unified Circular Model: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Unifying scattered school green crafts and outsourced heavy materials into one clean system.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Digital Transparency: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Building an online catalog so buyers can see exact specifications and request real samples.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The Physical Loop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Six circular products systematically diverted from school waste streams.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3291840" cy="196596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000" b="1">
                <a:solidFill>
                  <a:srgbClr val="526058"/>
                </a:solidFill>
                <a:latin typeface="JetBrains Mono"/>
              </a:defRPr>
            </a:pPr>
            <a:r>
              <a:t>STUDENT-MADE</a:t>
            </a:r>
          </a:p>
          <a:p>
            <a:pPr>
              <a:spcBef>
                <a:spcPts val="4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Seed Paper</a:t>
            </a:r>
          </a:p>
          <a:p>
            <a:pPr>
              <a:spcBef>
                <a:spcPts val="600"/>
              </a:spcBef>
              <a:defRPr sz="1200">
                <a:solidFill>
                  <a:srgbClr val="526058"/>
                </a:solidFill>
                <a:latin typeface="Plus Jakarta Sans"/>
              </a:defRPr>
            </a:pPr>
            <a:r>
              <a:t>Handmade plantable paper embedded with native seeds, crafted directly inside school.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2103120"/>
            <a:ext cx="3291840" cy="196596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000" b="1">
                <a:solidFill>
                  <a:srgbClr val="526058"/>
                </a:solidFill>
                <a:latin typeface="JetBrains Mono"/>
              </a:defRPr>
            </a:pPr>
            <a:r>
              <a:t>STUDENT-MADE</a:t>
            </a:r>
          </a:p>
          <a:p>
            <a:pPr>
              <a:spcBef>
                <a:spcPts val="4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Bioenzymes</a:t>
            </a:r>
          </a:p>
          <a:p>
            <a:pPr>
              <a:spcBef>
                <a:spcPts val="600"/>
              </a:spcBef>
              <a:defRPr sz="1200">
                <a:solidFill>
                  <a:srgbClr val="526058"/>
                </a:solidFill>
                <a:latin typeface="Plus Jakarta Sans"/>
              </a:defRPr>
            </a:pPr>
            <a:r>
              <a:t>Citrus fruit peels fermented into natural multi-purpose cleaning liquids for campus sanitation.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2103120"/>
            <a:ext cx="3291840" cy="196596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000" b="1">
                <a:solidFill>
                  <a:srgbClr val="526058"/>
                </a:solidFill>
                <a:latin typeface="JetBrains Mono"/>
              </a:defRPr>
            </a:pPr>
            <a:r>
              <a:t>STUDENT-MADE</a:t>
            </a:r>
          </a:p>
          <a:p>
            <a:pPr>
              <a:spcBef>
                <a:spcPts val="4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Uniform Bags</a:t>
            </a:r>
          </a:p>
          <a:p>
            <a:pPr>
              <a:spcBef>
                <a:spcPts val="600"/>
              </a:spcBef>
              <a:defRPr sz="1200">
                <a:solidFill>
                  <a:srgbClr val="526058"/>
                </a:solidFill>
                <a:latin typeface="Plus Jakarta Sans"/>
              </a:defRPr>
            </a:pPr>
            <a:r>
              <a:t>Durable everyday tote bags stitched from discarded school uniform fabrics.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89120"/>
            <a:ext cx="3291840" cy="196596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000" b="1">
                <a:solidFill>
                  <a:srgbClr val="526058"/>
                </a:solidFill>
                <a:latin typeface="JetBrains Mono"/>
              </a:defRPr>
            </a:pPr>
            <a:r>
              <a:t>STUDENT-MADE</a:t>
            </a:r>
          </a:p>
          <a:p>
            <a:pPr>
              <a:spcBef>
                <a:spcPts val="4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Eco-Bricks</a:t>
            </a:r>
          </a:p>
          <a:p>
            <a:pPr>
              <a:spcBef>
                <a:spcPts val="600"/>
              </a:spcBef>
              <a:defRPr sz="1200">
                <a:solidFill>
                  <a:srgbClr val="526058"/>
                </a:solidFill>
                <a:latin typeface="Plus Jakarta Sans"/>
              </a:defRPr>
            </a:pPr>
            <a:r>
              <a:t>PET bottles tightly packed with clean plastic wrappers for modular garden walls and simple structures.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4389120"/>
            <a:ext cx="3291840" cy="196596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000" b="1">
                <a:solidFill>
                  <a:srgbClr val="526058"/>
                </a:solidFill>
                <a:latin typeface="JetBrains Mono"/>
              </a:defRPr>
            </a:pPr>
            <a:r>
              <a:t>STUDENT-MADE</a:t>
            </a:r>
          </a:p>
          <a:p>
            <a:pPr>
              <a:spcBef>
                <a:spcPts val="4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Bottle Planters</a:t>
            </a:r>
          </a:p>
          <a:p>
            <a:pPr>
              <a:spcBef>
                <a:spcPts val="600"/>
              </a:spcBef>
              <a:defRPr sz="1200">
                <a:solidFill>
                  <a:srgbClr val="526058"/>
                </a:solidFill>
                <a:latin typeface="Plus Jakarta Sans"/>
              </a:defRPr>
            </a:pPr>
            <a:r>
              <a:t>Upcycled beverage containers for school corridor nursery and vertical greenery installations.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4389120"/>
            <a:ext cx="3291840" cy="1965960"/>
          </a:xfrm>
          <a:prstGeom prst="rect">
            <a:avLst/>
          </a:prstGeom>
          <a:solidFill>
            <a:srgbClr val="F0F6F2"/>
          </a:solidFill>
          <a:ln w="19050">
            <a:solidFill>
              <a:srgbClr val="1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000" b="1">
                <a:solidFill>
                  <a:srgbClr val="1F6B4F"/>
                </a:solidFill>
                <a:latin typeface="JetBrains Mono"/>
              </a:defRPr>
            </a:pPr>
            <a:r>
              <a:t>BULK EXCHANGE</a:t>
            </a:r>
          </a:p>
          <a:p>
            <a:pPr>
              <a:spcBef>
                <a:spcPts val="4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MLP Sheets</a:t>
            </a:r>
          </a:p>
          <a:p>
            <a:pPr>
              <a:spcBef>
                <a:spcPts val="600"/>
              </a:spcBef>
              <a:defRPr sz="1200">
                <a:solidFill>
                  <a:srgbClr val="526058"/>
                </a:solidFill>
                <a:latin typeface="Plus Jakarta Sans"/>
              </a:defRPr>
            </a:pPr>
            <a:r>
              <a:t>Heavy-duty structural boards heat-pressed by an external NGO from bulk wrapper batches.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71A18"/>
                </a:solidFill>
                <a:latin typeface="Plus Jakarta Sans"/>
              </a:defRPr>
            </a:pPr>
            <a:r>
              <a:t>how it started vs how it's going</a:t>
            </a:r>
          </a:p>
        </p:txBody>
      </p:sp>
      <p:pic>
        <p:nvPicPr>
          <p:cNvPr id="3" name="Picture 2" descr="reality-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516" y="1554480"/>
            <a:ext cx="393192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687568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26058"/>
                </a:solidFill>
                <a:latin typeface="Plus Jakarta Sans"/>
              </a:defRPr>
            </a:pPr>
            <a:r>
              <a:t>Student crafts and the wrapper exchange were already happening. I built the circular reinvestment loop and the digital storefront.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Why Build a Digital Platform?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Transforming scattered school crafts into a unified, public circular initiative.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6B4F"/>
                </a:solidFill>
                <a:latin typeface="Plus Jakarta Sans"/>
              </a:defRPr>
            </a:pPr>
            <a:r>
              <a:t>Platform Objectives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Unified Public Presence: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Showcasing all circular materials and workflows in one public place so it operates as a serious initiative, not scattered classroom crafts.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Direct Inquiry Routing: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Giving outside people and institutions a friction-free way to contact us and request physical samples.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Connecting School to Outside World: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Taking activities happening inside classrooms and presenting them professionally to external organizations.</a:t>
            </a:r>
          </a:p>
        </p:txBody>
      </p:sp>
      <p:pic>
        <p:nvPicPr>
          <p:cNvPr id="4" name="Picture 3" descr="screen-home-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60320"/>
            <a:ext cx="5120640" cy="2410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The Zero-Cost Backend: Built on Google Sheets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Handling live incoming inquiries without paid servers or corporate credit cards.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3291840" cy="228600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6B4F"/>
                </a:solidFill>
                <a:latin typeface="JetBrains Mono"/>
              </a:defRPr>
            </a:pPr>
            <a:r>
              <a:t>STEP 01</a:t>
            </a:r>
          </a:p>
          <a:p>
            <a:pPr>
              <a:spcBef>
                <a:spcPts val="4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React Form</a:t>
            </a:r>
          </a:p>
          <a:p>
            <a:pPr>
              <a:spcBef>
                <a:spcPts val="800"/>
              </a:spcBef>
              <a:defRPr sz="1300">
                <a:solidFill>
                  <a:srgbClr val="526058"/>
                </a:solidFill>
                <a:latin typeface="Plus Jakarta Sans"/>
              </a:defRPr>
            </a:pPr>
            <a:r>
              <a:t>User fills in their name, product choice, and notes. The browser validates all inputs locally.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2194560"/>
            <a:ext cx="3291840" cy="228600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6B4F"/>
                </a:solidFill>
                <a:latin typeface="JetBrains Mono"/>
              </a:defRPr>
            </a:pPr>
            <a:r>
              <a:t>STEP 02</a:t>
            </a:r>
          </a:p>
          <a:p>
            <a:pPr>
              <a:spcBef>
                <a:spcPts val="4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Apps Script Webhook</a:t>
            </a:r>
          </a:p>
          <a:p>
            <a:pPr>
              <a:spcBef>
                <a:spcPts val="800"/>
              </a:spcBef>
              <a:defRPr sz="1300">
                <a:solidFill>
                  <a:srgbClr val="526058"/>
                </a:solidFill>
                <a:latin typeface="Plus Jakarta Sans"/>
              </a:defRPr>
            </a:pPr>
            <a:r>
              <a:t>A free Google Apps Script webhook receives the data payload securely in the cloud.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2194560"/>
            <a:ext cx="3291840" cy="228600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6B4F"/>
                </a:solidFill>
                <a:latin typeface="JetBrains Mono"/>
              </a:defRPr>
            </a:pPr>
            <a:r>
              <a:t>STEP 03</a:t>
            </a:r>
          </a:p>
          <a:p>
            <a:pPr>
              <a:spcBef>
                <a:spcPts val="4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Sheets Database</a:t>
            </a:r>
          </a:p>
          <a:p>
            <a:pPr>
              <a:spcBef>
                <a:spcPts val="800"/>
              </a:spcBef>
              <a:defRPr sz="1300">
                <a:solidFill>
                  <a:srgbClr val="526058"/>
                </a:solidFill>
                <a:latin typeface="Plus Jakarta Sans"/>
              </a:defRPr>
            </a:pPr>
            <a:r>
              <a:t>Appends the inquiry row into a live Google Sheet and immediately triggers an email alert.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solidFill>
            <a:srgbClr val="E8EFE9"/>
          </a:solidFill>
          <a:ln w="12700">
            <a:solidFill>
              <a:srgbClr val="1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71A18"/>
                </a:solidFill>
                <a:latin typeface="Plus Jakarta Sans"/>
              </a:rPr>
              <a:t>Monthly Infrastructure Bill:   </a:t>
            </a:r>
            <a:r>
              <a:rPr sz="2400" b="1">
                <a:solidFill>
                  <a:srgbClr val="1F6B4F"/>
                </a:solidFill>
                <a:latin typeface="JetBrains Mono"/>
              </a:rPr>
              <a:t>$0.00 / month
</a:t>
            </a:r>
            <a:r>
              <a:rPr sz="1300">
                <a:solidFill>
                  <a:srgbClr val="526058"/>
                </a:solidFill>
                <a:latin typeface="Plus Jakarta Sans"/>
              </a:rPr>
              <a:t>No credit cards, zero server maintenance, and reliable for real order leads.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71A18"/>
                </a:solidFill>
                <a:latin typeface="Plus Jakarta Sans"/>
              </a:defRPr>
            </a:pPr>
            <a:r>
              <a:t>why our database bill is literally $0</a:t>
            </a:r>
          </a:p>
        </p:txBody>
      </p:sp>
      <p:pic>
        <p:nvPicPr>
          <p:cNvPr id="3" name="Picture 2" descr="buff-jack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035" y="1554480"/>
            <a:ext cx="3942882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687568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26058"/>
                </a:solidFill>
                <a:latin typeface="Plus Jakarta Sans"/>
              </a:defRPr>
            </a:pPr>
            <a:r>
              <a:t>Why spend monthly money on complex database servers when a free Google Sheet captures all your incoming inquiries?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The Inquiry Engine: An Honest Review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Built in a single night sprint: functional, basic, and with plenty of room to improve.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6B4F"/>
                </a:solidFill>
                <a:latin typeface="Plus Jakarta Sans"/>
              </a:defRPr>
            </a:pPr>
            <a:r>
              <a:t>The Reality of Our MVP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Built in One Night: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Put together in a single late-night sprint to give the CBSE exhibition judges a working demo to test.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Basic but Working: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Automatically pre-populates product details and logs records straight into our backend without paying for services.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Room for Improvement: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Needs automated inventory deduction, better error states, and order tracking. It's an MVP, not final software.</a:t>
            </a:r>
          </a:p>
        </p:txBody>
      </p:sp>
      <p:pic>
        <p:nvPicPr>
          <p:cNvPr id="4" name="Picture 3" descr="screen-enqu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How I Built It Without Knowing React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Moving from typing boilerplate code to designing systems with AI agents.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26058"/>
                </a:solidFill>
                <a:latin typeface="Plus Jakarta Sans"/>
              </a:defRPr>
            </a:pPr>
            <a:r>
              <a:t>The Traditional Hurdle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526058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Syntax Friction: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Getting stuck on missing brackets, package version mismatches, and unfamiliar framework setup.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526058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Hours on Forums: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Spending entire evenings digging through Stack Overflow threads instead of building real features.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526058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Idea Blocked: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Giving up on software ideas simply because you haven't spent 6 months memorizing syntax.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6B4F"/>
                </a:solidFill>
                <a:latin typeface="Plus Jakarta Sans"/>
              </a:defRPr>
            </a:pPr>
            <a:r>
              <a:t>Developer as Architect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Define the System Rules: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You specify the data models, visual style, and constraints in plain language.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Agents Write the Code: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An autonomous agent creates components, connects routes, and modifies multiple files.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Focus on Testing: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Your primary job becomes quality control, testing user flows, and refining the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Chatbot vs Agent Workspace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The difference between copy-pasting snippets and letting an agent build inside your files.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5029200" cy="4434840"/>
          </a:xfrm>
          <a:prstGeom prst="rect">
            <a:avLst/>
          </a:prstGeom>
          <a:solidFill>
            <a:srgbClr val="FCFCFE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526058"/>
                </a:solidFill>
                <a:latin typeface="Plus Jakarta Sans"/>
              </a:defRPr>
            </a:pPr>
            <a:r>
              <a:t>ChatGPT: Web Chatbot (Isolated)</a:t>
            </a:r>
          </a:p>
        </p:txBody>
      </p:sp>
      <p:pic>
        <p:nvPicPr>
          <p:cNvPr id="5" name="Picture 4" descr="screen-chatg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50592"/>
            <a:ext cx="3931920" cy="15973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4709160"/>
            <a:ext cx="466344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/>
          <a:p>
            <a:pPr>
              <a:spcBef>
                <a:spcPts val="1400"/>
              </a:spcBef>
            </a:pPr>
            <a:r>
              <a:rPr sz="1000">
                <a:solidFill>
                  <a:srgbClr val="526058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Copy-Paste Loop: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Generates isolated snippets you must manually copy into your editor.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526058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Zero File Access: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Cannot see project folders, config files, or installed dependencies.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526058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Blind Execution: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Cannot run commands, view terminal errors, or test builds.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965960"/>
            <a:ext cx="5029200" cy="4434840"/>
          </a:xfrm>
          <a:prstGeom prst="rect">
            <a:avLst/>
          </a:prstGeom>
          <a:solidFill>
            <a:srgbClr val="F0F6F2"/>
          </a:solidFill>
          <a:ln w="19050">
            <a:solidFill>
              <a:srgbClr val="1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5740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1F6B4F"/>
                </a:solidFill>
                <a:latin typeface="Plus Jakarta Sans"/>
              </a:defRPr>
            </a:pPr>
            <a:r>
              <a:t>Antigravity: Agent Workspace (Autonomous)</a:t>
            </a:r>
          </a:p>
        </p:txBody>
      </p:sp>
      <p:pic>
        <p:nvPicPr>
          <p:cNvPr id="9" name="Picture 8" descr="screen-antigra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761488"/>
            <a:ext cx="4297680" cy="15756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4709160"/>
            <a:ext cx="466344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/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Direct Repository Edits: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Inspects folder context and writes multi-file modifications directly.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Autonomous Terminal: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Runs shell commands, dev servers, and build tests in the workspace.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Self-Repair Loop: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Catches compiler and runtime errors and fixes them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How Working with an Agent Actually Looks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A practical 4-step loop of specifying, editing, testing, and self-repairing.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2514600" cy="347472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6B4F"/>
                </a:solidFill>
                <a:latin typeface="JetBrains Mono"/>
              </a:defRPr>
            </a:pPr>
            <a:r>
              <a:t>STAGE 01</a:t>
            </a:r>
          </a:p>
          <a:p>
            <a:pPr>
              <a:spcBef>
                <a:spcPts val="6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Write the Spec</a:t>
            </a:r>
          </a:p>
          <a:p>
            <a:pPr>
              <a:spcBef>
                <a:spcPts val="1200"/>
              </a:spcBef>
              <a:defRPr sz="1300">
                <a:solidFill>
                  <a:srgbClr val="526058"/>
                </a:solidFill>
                <a:latin typeface="Plus Jakarta Sans"/>
              </a:defRPr>
            </a:pPr>
            <a:r>
              <a:t>Describe what you want in plain language: colors, component layout, and behavior rules.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20440" y="2286000"/>
            <a:ext cx="2514600" cy="347472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6B4F"/>
                </a:solidFill>
                <a:latin typeface="JetBrains Mono"/>
              </a:defRPr>
            </a:pPr>
            <a:r>
              <a:t>STAGE 02</a:t>
            </a:r>
          </a:p>
          <a:p>
            <a:pPr>
              <a:spcBef>
                <a:spcPts val="6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Agent Edits Files</a:t>
            </a:r>
          </a:p>
          <a:p>
            <a:pPr>
              <a:spcBef>
                <a:spcPts val="1200"/>
              </a:spcBef>
              <a:defRPr sz="1300">
                <a:solidFill>
                  <a:srgbClr val="526058"/>
                </a:solidFill>
                <a:latin typeface="Plus Jakarta Sans"/>
              </a:defRPr>
            </a:pPr>
            <a:r>
              <a:t>The agent inspects your repository, writes components, and updates project files directly.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286000"/>
            <a:ext cx="2514600" cy="347472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6B4F"/>
                </a:solidFill>
                <a:latin typeface="JetBrains Mono"/>
              </a:defRPr>
            </a:pPr>
            <a:r>
              <a:t>STAGE 03</a:t>
            </a:r>
          </a:p>
          <a:p>
            <a:pPr>
              <a:spcBef>
                <a:spcPts val="6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You Test Locally</a:t>
            </a:r>
          </a:p>
          <a:p>
            <a:pPr>
              <a:spcBef>
                <a:spcPts val="1200"/>
              </a:spcBef>
              <a:defRPr sz="1300">
                <a:solidFill>
                  <a:srgbClr val="526058"/>
                </a:solidFill>
                <a:latin typeface="Plus Jakarta Sans"/>
              </a:defRPr>
            </a:pPr>
            <a:r>
              <a:t>You run the app in your browser, click the buttons, and see what works or what broke.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15400" y="2286000"/>
            <a:ext cx="2514600" cy="3474720"/>
          </a:xfrm>
          <a:prstGeom prst="rect">
            <a:avLst/>
          </a:prstGeom>
          <a:solidFill>
            <a:srgbClr val="F8FAF8"/>
          </a:solidFill>
          <a:ln w="12700">
            <a:solidFill>
              <a:srgbClr val="E2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6B4F"/>
                </a:solidFill>
                <a:latin typeface="JetBrains Mono"/>
              </a:defRPr>
            </a:pPr>
            <a:r>
              <a:t>STAGE 04</a:t>
            </a:r>
          </a:p>
          <a:p>
            <a:pPr>
              <a:spcBef>
                <a:spcPts val="600"/>
              </a:spcBef>
              <a:defRPr sz="1700" b="1">
                <a:solidFill>
                  <a:srgbClr val="171A18"/>
                </a:solidFill>
                <a:latin typeface="Plus Jakarta Sans"/>
              </a:defRPr>
            </a:pPr>
            <a:r>
              <a:t>Agent Fixes Bugs</a:t>
            </a:r>
          </a:p>
          <a:p>
            <a:pPr>
              <a:spcBef>
                <a:spcPts val="1200"/>
              </a:spcBef>
              <a:defRPr sz="1300">
                <a:solidFill>
                  <a:srgbClr val="526058"/>
                </a:solidFill>
                <a:latin typeface="Plus Jakarta Sans"/>
              </a:defRPr>
            </a:pPr>
            <a:r>
              <a:t>You paste the error or unexpected behavior back to the agent; it reads the log and repairs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Replicating This Workflow: OpenCode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An open-source terminal agent that gives you the same autonomous capabilities.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6B4F"/>
                </a:solidFill>
                <a:latin typeface="Plus Jakarta Sans"/>
              </a:defRPr>
            </a:pPr>
            <a:r>
              <a:t>Why OpenCode for Students?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100% Free &amp; Open Source: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Created by Anomaly (GitHub: anomalyco/opencode). Zero subscriptions or vendor lock-in.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Lives in Your Terminal: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Reads your project files, edits code, and runs local commands just like specialized agent harnesses.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Dual Execution Modes: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Plan Mode reviews architecture safely; Build Mode executes real code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2103120"/>
            <a:ext cx="5029200" cy="3291840"/>
          </a:xfrm>
          <a:prstGeom prst="rect">
            <a:avLst/>
          </a:prstGeom>
          <a:solidFill>
            <a:srgbClr val="F8FAF8"/>
          </a:solidFill>
          <a:ln w="19050">
            <a:solidFill>
              <a:srgbClr val="1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26058"/>
                </a:solidFill>
                <a:latin typeface="JetBrains Mono"/>
              </a:defRPr>
            </a:pPr>
            <a:r>
              <a:t>// Quick Installation in 60 Seconds</a:t>
            </a:r>
          </a:p>
          <a:p>
            <a:pPr>
              <a:spcBef>
                <a:spcPts val="800"/>
              </a:spcBef>
              <a:defRPr sz="1400" b="1">
                <a:solidFill>
                  <a:srgbClr val="1F6B4F"/>
                </a:solidFill>
                <a:latin typeface="JetBrains Mono"/>
              </a:defRPr>
            </a:pPr>
            <a:r>
              <a:t>$ npm install -g @opencode/cli</a:t>
            </a:r>
          </a:p>
          <a:p>
            <a:pPr>
              <a:spcBef>
                <a:spcPts val="800"/>
              </a:spcBef>
              <a:defRPr sz="1400" b="1">
                <a:solidFill>
                  <a:srgbClr val="1F6B4F"/>
                </a:solidFill>
                <a:latin typeface="JetBrains Mono"/>
              </a:defRPr>
            </a:pPr>
            <a:r>
              <a:t>$ cd ./my-project</a:t>
            </a:r>
          </a:p>
          <a:p>
            <a:pPr>
              <a:spcBef>
                <a:spcPts val="800"/>
              </a:spcBef>
              <a:defRPr sz="1400" b="1">
                <a:solidFill>
                  <a:srgbClr val="1F6B4F"/>
                </a:solidFill>
                <a:latin typeface="JetBrains Mono"/>
              </a:defRPr>
            </a:pPr>
            <a:r>
              <a:t>$ opencode</a:t>
            </a:r>
          </a:p>
          <a:p>
            <a:pPr>
              <a:spcBef>
                <a:spcPts val="800"/>
              </a:spcBef>
              <a:defRPr sz="1400" b="1">
                <a:solidFill>
                  <a:srgbClr val="526058"/>
                </a:solidFill>
                <a:latin typeface="JetBrains Mono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526058"/>
                </a:solidFill>
                <a:latin typeface="JetBrains Mono"/>
              </a:defRPr>
            </a:pPr>
            <a:r>
              <a:t>// Runs on macOS, Linux, and Windows WSL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A18"/>
                </a:solidFill>
                <a:latin typeface="Plus Jakarta Sans"/>
              </a:defRPr>
            </a:pPr>
            <a:r>
              <a:t>Free AI Models: Zero Cost for Students</a:t>
            </a:r>
          </a:p>
          <a:p>
            <a:pPr>
              <a:spcBef>
                <a:spcPts val="6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Practical options you can use tonight without paying for subscriptions.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6B4F"/>
                </a:solidFill>
                <a:latin typeface="Plus Jakarta Sans"/>
              </a:defRPr>
            </a:pPr>
            <a:r>
              <a:t>Free Cloud APIs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Google Gemini API: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Sign in to aistudio.google.com for a free key. Generous free limits for fast coding models.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Groq Cloud: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Ultra-fast free inference on open models like Llama 3.3 via console.groq.com.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GitHub Models: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Free student access to preview models inside VS Code and GitHub Codespaces.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6B4F"/>
                </a:solidFill>
                <a:latin typeface="Plus Jakarta Sans"/>
              </a:defRPr>
            </a:pPr>
            <a:r>
              <a:t>100% Offline with Ollama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Private &amp; Local: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Download ollama.com. Runs entirely on your laptop hardware without needing internet.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Recommended Model: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qwen2.5-coder:7b delivers strong coding reasoning on standard student laptops.</a:t>
            </a:r>
          </a:p>
          <a:p>
            <a:pPr>
              <a:spcBef>
                <a:spcPts val="1400"/>
              </a:spcBef>
            </a:pPr>
            <a:r>
              <a:rPr sz="1000">
                <a:solidFill>
                  <a:srgbClr val="1F6B4F"/>
                </a:solidFill>
                <a:latin typeface="Plus Jakarta Sans"/>
              </a:rPr>
              <a:t>■  </a:t>
            </a:r>
            <a:r>
              <a:rPr sz="1500" b="1">
                <a:solidFill>
                  <a:srgbClr val="171A18"/>
                </a:solidFill>
                <a:latin typeface="Plus Jakarta Sans"/>
              </a:rPr>
              <a:t>Zero Latency:
</a:t>
            </a:r>
            <a:r>
              <a:rPr sz="1400">
                <a:solidFill>
                  <a:srgbClr val="526058"/>
                </a:solidFill>
                <a:latin typeface="Plus Jakarta Sans"/>
              </a:rPr>
              <a:t>   Fast responses directly on your machine with complete data privacy.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71A18"/>
                </a:solidFill>
                <a:latin typeface="Plus Jakarta Sans"/>
              </a:defRPr>
            </a:pPr>
            <a:r>
              <a:t>deployed without testing</a:t>
            </a:r>
          </a:p>
        </p:txBody>
      </p:sp>
      <p:pic>
        <p:nvPicPr>
          <p:cNvPr id="3" name="Picture 2" descr="nochec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09" y="1554480"/>
            <a:ext cx="5239533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687568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26058"/>
                </a:solidFill>
                <a:latin typeface="Plus Jakarta Sans"/>
              </a:defRPr>
            </a:pPr>
            <a:r>
              <a:t>Prompting is only 20% of the work. Clicking every button to see what actually broke is the other 80%.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9144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71A18"/>
                </a:solidFill>
                <a:latin typeface="Plus Jakarta Sans"/>
              </a:rPr>
              <a:t>Thank </a:t>
            </a:r>
            <a:r>
              <a:rPr sz="5400" b="1">
                <a:solidFill>
                  <a:srgbClr val="1F6B4F"/>
                </a:solidFill>
                <a:latin typeface="Plus Jakarta Sans"/>
              </a:rPr>
              <a:t>You.</a:t>
            </a:r>
          </a:p>
          <a:p>
            <a:pPr algn="ctr">
              <a:spcBef>
                <a:spcPts val="800"/>
              </a:spcBef>
              <a:defRPr sz="1700">
                <a:solidFill>
                  <a:srgbClr val="526058"/>
                </a:solidFill>
                <a:latin typeface="Plus Jakarta Sans"/>
              </a:defRPr>
            </a:pPr>
            <a:r>
              <a:t>Scan the code to access the complete open-source repository, live demo, and student setup guide.</a:t>
            </a:r>
          </a:p>
        </p:txBody>
      </p:sp>
      <p:pic>
        <p:nvPicPr>
          <p:cNvPr id="3" name="Picture 2" descr="qr-eco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6032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512064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B4F"/>
                </a:solidFill>
                <a:latin typeface="JetBrains Mono"/>
              </a:defRPr>
            </a:pPr>
            <a:r>
              <a:t>github.com/Harman209/ecoloop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171A18"/>
                </a:solidFill>
                <a:latin typeface="Plus Jakarta Sans"/>
              </a:defRPr>
            </a:pPr>
            <a:r>
              <a:t>Swami Sant Dass Public School, Jalandhar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